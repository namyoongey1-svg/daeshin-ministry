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2fbf8c2-dfdc-f689-90f7-82cd6cb026c1}">
          <p14:sldIdLst>
            <p14:sldId id="256"/>
            <p14:sldId id="257"/>
          </p14:sldIdLst>
        </p14:section>
        <p14:section name="할로윈 이야기" id="{5ca91ec7-1323-3915-4aac-4994a03ca8f1}">
          <p14:sldIdLst>
            <p14:sldId id="258"/>
            <p14:sldId id="259"/>
            <p14:sldId id="260"/>
          </p14:sldIdLst>
        </p14:section>
        <p14:section name="종교개혁" id="{6f06bf46-2ad4-b0e9-463c-e032c09056bc}">
          <p14:sldIdLst>
            <p14:sldId id="261"/>
            <p14:sldId id="262"/>
          </p14:sldIdLst>
        </p14:section>
        <p14:section name="말씀 속으로" id="{29bfb9b6-781d-fa47-d929-e7d75e203c86}">
          <p14:sldIdLst>
            <p14:sldId id="263"/>
            <p14:sldId id="264"/>
          </p14:sldIdLst>
        </p14:section>
        <p14:section name="적용" id="{884e031b-5c40-6d86-7c8e-23ea29194c4c}">
          <p14:sldIdLst>
            <p14:sldId id="265"/>
            <p14:sldId id="266"/>
          </p14:sldIdLst>
        </p14:section>
        <p14:section name="게임" id="{29643a6a-3a40-a730-d656-edfdd79b005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마무리" id="{cf576c69-756e-08c2-0b44-8c47e1b00937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(1분). 오늘은 10월 31일 이야기를 할 거예요. 할로윈이 무슨 날인지 아는 친구? 손 들어 보세요. 오늘 끝날 때 우리는 '10월 31일에 일어난 더 놀라운 일'을 알게 될 거예요. 대본: 1. 시작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본문 함께 읽기 (3분). 선생님이 한 절씩 읽으면 따라 읽어요. 노란 글자가 오늘의 열쇠말이에요: '전에는 어둠, 이제는 빛'. 8절은 오늘 외울 거예요. 두 번 더 읽고 다음으로. 대본: 2. 오늘의 말씀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질문으로 시작 (3분). 할로윈 날 뭘 하는지 아이들에게 먼저 물어요 (호박, 분장, 사탕). 그다음 질문: 그런데 이걸 왜 하는지 아는 사람? 대부분 몰라요. 그래서 오늘 알아볼 거예요. 대본: 3. 할로윈 이야기 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삼하인 이야기 (3분). 2000년 전 아일랜드·영국 켈트족. 겨울이 오는 날, 죽은 영혼이 돌아온다고 믿고 무서워서 가면 쓰고 불 피웠어요. 핵심: 하나님을 모르면 어둠이 무서워요. 우리는? 다음에 나와요. 대본: 4. 할로윈 이야기 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이름 풀이와 역사 한 줄 (3분). Hallow = 거룩한 사람(성인). 11월 1일 '모든 성인의 날' 전날 밤 = Hallows' Eve = Halloween. 4단계 카드를 손가락으로 짚으며 설명. 결론: 성경에서 나온 날이 아니라, 무서움 + 풍습 + 장사가 섞인 날. 대본: 5. 이름의 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반전 (4분). 같은 날짜 10월 31일, 1517년 독일. 루터가 교회 문에 종이 한 장 — 95개 조항. 그때 교회는 '돈 내면 죄 용서'라고 가르쳤어요. 루터: 아니에요, 성경은 그렇게 말하지 않아요. 오직 믿음·은혜·성경. 그래서 10월 31일은 교회의 날이에요. 대본: 6. 종교개혁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칼빈 (3분). 안경 비유: 눈 나쁜 사람이 안경 쓰면 또렷하게 보이죠? 성경이 그 안경이에요. 성경으로 보면 하나님과 세상이 또렷해요. 제네바 도시의 구호 '어둠 후에 빛' — 오늘 제목이 여기서 왔어요. 대본: 7. 칼빈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본문 핵심 (5분). 8절은 '빛이 되어라'가 아니라 '이제는 빛이라'. 명령 전에 선언. 어둠 → 빛으로 옮기신 분은 예수님 (골 1:13 '흑암의 권세에서 건져내사'). 개혁주의 핵심: 우리가 착해서가 아니라 오직 은혜로. 그래서 빛의 자녀'답게' 사는 거예요. 대본: 8. 말씀 속으로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열매 세 가지 (4분). 각 카드마다 아이들 예를 하나씩 더 받아요: '착함을 이번 주에 어떻게 할 수 있을까?' 열매 비유: 사과나무가 힘줘서 사과 만드나요? 나무에 붙어 있으면 열려요. 우리는 예수님께 붙어 있으면 돼요. 대본: 9. 빛의 열매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적용 (5분). 율법주의 주의: '하지 마'만 말하지 않기. 사탕·분장 자체가 죄가 아니에요(공주·동물 분장은 괜찮아요). 문제는 어둠을 흉내 내고 즐기는 것. 그리고 두려움: 귀신이 세요? 아니요. 하나님이 다스리세요(요일 4:4 '너희 안에 계신 이가 세상에 있는 자보다 크심이라'). 기준은 10절: 주님이 기뻐하시는 것. 대본: 10. 적용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퀴즈 (4분). 손으로 O, X 만들기. 정답: 1 X (성경에 없는 날) / 2 O / 3 O / 4 X (오직 은혜로, 예수님 때문에) / 5 X (하나님이 다스리시니 두려워하지 않아요). 4번이 제일 중요해요. 틀린 친구가 많으면 8번 슬라이드로 잠깐 돌아가요. 대본: 11. 퀴즈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(10분). 두 팀(등불팀·별빛팀)으로 나눠요. 번갈아 번호를 고르면 선생님이 그 칸을 클릭 → 문제 슬라이드로 이동. 팀이 답하면 화면을 한 번 클릭해 정답을 띄워요. 맞히면 칠판에 등불 하나 그려 줘요. '판으로' 버튼으로 돌아와요. 쓴 칸은 칠판에 번호를 적어 두세요(화면은 바뀌지 않아요). 5번 암송 찬스는 2개, 12번은 사탕 보너스. 대본: 게임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1번. 팀이 답한 뒤 화면을 한 번 클릭하면 정답이 나타나요. 정답: X — 성경에는 할로윈이 없어요.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2번. 팀이 답한 뒤 화면을 한 번 클릭하면 정답이 나타나요. 정답: '모든 성인의 날' 전날 밤.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3번. 팀이 답한 뒤 화면을 한 번 클릭하면 정답이 나타나요. 정답: 삼하인.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4번. 팀이 답한 뒤 화면을 한 번 클릭하면 정답이 나타나요. 정답: 마르틴 루터.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5번. 팀이 답한 뒤 화면을 한 번 클릭하면 정답이 나타나요. 정답: 너희가 전에는 어둠이더니 이제는 주 안에서 빛이라 빛의 자녀들처럼 행하라  (성공하면 등불 2개!).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6번. 팀이 답한 뒤 화면을 한 번 클릭하면 정답이 나타나요. 정답: 오직 믿음, 오직 은혜, 오직 성경.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7번. 팀이 답한 뒤 화면을 한 번 클릭하면 정답이 나타나요. 정답: 장 칼빈.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8번. 팀이 답한 뒤 화면을 한 번 클릭하면 정답이 나타나요. 정답: 어둠 후에 빛!.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9번. 팀이 답한 뒤 화면을 한 번 클릭하면 정답이 나타나요. 정답: 어둠 / 빛.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10번. 팀이 답한 뒤 화면을 한 번 클릭하면 정답이 나타나요. 정답: 착함, 의로움, 진실함.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11번. 팀이 답한 뒤 화면을 한 번 클릭하면 정답이 나타나요. 정답: 예수님! (골로새서 1:13).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12번. 팀이 답한 뒤 화면을 한 번 클릭하면 정답이 나타나요. 정답: 착함 · 의로움 · 진실함 중 하나! 말한 친구 팀에게 등불 1개 + 사탕. 그다음 오른쪽 위 '판으로' 버튼을 눌러 돌아가요.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암송과 기도 (3분). 세 줄을 세 모둠이 나눠 외우고, 합쳐서 두 번. 기도는 선생님이 한 구절씩 읽고 따라 하기. 과제: 이번 주 '빛의 열매' 하나 정해서 다음 주에 말해 주기. 대본: 13. 마무리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C"/>
                </a:solidFill>
              </a:rPr>
              <a:t>어둠 후에 빛!  |  대로교회 주일학교 할로윈 특강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7"/>
                </a:solidFill>
              </a:rPr>
              <a:t>어둠 후에 빛!  |  대로교회 주일학교 할로윈 특강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13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191" y="1379300"/>
            <a:ext cx="72295" cy="72295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54061" y="505001"/>
            <a:ext cx="59370" cy="59370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43212" y="1946299"/>
            <a:ext cx="61736" cy="61736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22" y="1364100"/>
            <a:ext cx="44366" cy="44366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85023" y="1572573"/>
            <a:ext cx="43598" cy="43598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67013" y="1662204"/>
            <a:ext cx="52581" cy="52581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75864" y="1872679"/>
            <a:ext cx="71272" cy="71272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13534" y="754963"/>
            <a:ext cx="46811" cy="46811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36324" y="562231"/>
            <a:ext cx="38755" cy="38755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67665" y="1549638"/>
            <a:ext cx="56613" cy="56613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4396" y="1544174"/>
            <a:ext cx="52920" cy="52920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71586" y="1838276"/>
            <a:ext cx="67935" cy="67935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54537" y="1304760"/>
            <a:ext cx="80304" cy="80304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pic>
        <p:nvPicPr>
          <p:cNvPr id="15" name="Image 0" descr="C:\Users\PCuser\AppData\Local\Temp\claude\C--Users-PCuser-Downloads-daeshin-ministry\d9c70595-96b3-4f98-8cc5-f03e45f40c03\scratchpad\build\art\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2103120"/>
            <a:ext cx="9144000" cy="304038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97280" y="411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어둠 후에 </a:t>
            </a:r>
            <a:pPr indent="0" marL="0">
              <a:buNone/>
            </a:pPr>
            <a:r>
              <a:rPr lang="en-US" sz="4600" b="1" dirty="0">
                <a:solidFill>
                  <a:srgbClr val="E8702A"/>
                </a:solidFill>
              </a:rPr>
              <a:t>빛</a:t>
            </a:r>
            <a:pPr indent="0" marL="0">
              <a:buNone/>
            </a:pPr>
            <a:r>
              <a:rPr lang="en-US" sz="4600" b="1" dirty="0">
                <a:solidFill>
                  <a:srgbClr val="E8702A"/>
                </a:solidFill>
              </a:rPr>
              <a:t> !</a:t>
            </a:r>
            <a:endParaRPr lang="en-US" sz="46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12984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9F7"/>
                </a:solidFill>
              </a:rPr>
              <a:t>할로윈 날, 빛의 자녀로 살아요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1709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대로교회 주일학교 할로윈 특강</a:t>
            </a:r>
            <a:pPr indent="0" marL="0">
              <a:buNone/>
            </a:pPr>
            <a:r>
              <a:rPr lang="en-US" sz="1200" dirty="0">
                <a:solidFill>
                  <a:srgbClr val="CFD6F0"/>
                </a:solidFill>
              </a:rPr>
              <a:t>   |   에베소서 5:8-11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548640"/>
            <a:ext cx="2194560" cy="2194560"/>
          </a:xfrm>
          <a:prstGeom prst="ellipse">
            <a:avLst/>
          </a:prstGeom>
          <a:solidFill>
            <a:srgbClr val="263577"/>
          </a:solidFill>
          <a:ln w="12700">
            <a:solidFill>
              <a:srgbClr val="2635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오늘의 말씀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에베소서 5:8-11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A"/>
                </a:solidFill>
              </a:rPr>
              <a:t>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554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너희가 </a:t>
            </a:r>
            <a:pPr indent="0" marL="0">
              <a:buNone/>
            </a:pPr>
            <a:r>
              <a:rPr lang="en-US" sz="1500" b="1" dirty="0">
                <a:solidFill>
                  <a:srgbClr val="F5B82E"/>
                </a:solidFill>
              </a:rPr>
              <a:t>전에는 어둠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이더니 </a:t>
            </a:r>
            <a:pPr indent="0" marL="0">
              <a:buNone/>
            </a:pPr>
            <a:r>
              <a:rPr lang="en-US" sz="1500" b="1" dirty="0">
                <a:solidFill>
                  <a:srgbClr val="F5B82E"/>
                </a:solidFill>
              </a:rPr>
              <a:t>이제는 주 안에서 빛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이라 </a:t>
            </a:r>
            <a:pPr indent="0" marL="0">
              <a:buNone/>
            </a:pPr>
            <a:r>
              <a:rPr lang="en-US" sz="1500" b="1" dirty="0">
                <a:solidFill>
                  <a:srgbClr val="F5B82E"/>
                </a:solidFill>
              </a:rPr>
              <a:t>빛의 자녀들처럼 행하라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231136"/>
            <a:ext cx="384048" cy="384048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A"/>
                </a:solidFill>
              </a:rPr>
              <a:t>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128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빛의 열매는 모든 </a:t>
            </a:r>
            <a:pPr indent="0" marL="0">
              <a:buNone/>
            </a:pPr>
            <a:r>
              <a:rPr lang="en-US" sz="1500" b="1" dirty="0">
                <a:solidFill>
                  <a:srgbClr val="F5B82E"/>
                </a:solidFill>
              </a:rPr>
              <a:t>착함과 의로움과 진실함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에 있느니라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384048" cy="384048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A"/>
                </a:solidFill>
              </a:rPr>
              <a:t>10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7121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2E"/>
                </a:solidFill>
              </a:rPr>
              <a:t>주를 기쁘시게 할 것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이 무엇인가 시험하여 보라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547872"/>
            <a:ext cx="384048" cy="384048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A"/>
                </a:solidFill>
              </a:rPr>
              <a:t>11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52958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너희는 </a:t>
            </a:r>
            <a:pPr indent="0" marL="0">
              <a:buNone/>
            </a:pPr>
            <a:r>
              <a:rPr lang="en-US" sz="1500" b="1" dirty="0">
                <a:solidFill>
                  <a:srgbClr val="F5B82E"/>
                </a:solidFill>
              </a:rPr>
              <a:t>열매 없는 어둠의 일에 참여하지 말고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 도리어 책망하라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2E"/>
                </a:solidFill>
              </a:rPr>
              <a:t>★ 암송 말씀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에베소서 5:8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user\AppData\Local\Temp\claude\C--Users-PCuser-Downloads-daeshin-ministry\d9c70595-96b3-4f98-8cc5-f03e45f40c03\scratchpad\build\art\str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457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할로윈 이야기 ①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68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10월 31일은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무슨 날일까요?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01168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호박 등불(잭오랜턴)을 켜요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유령 · 마녀 · 해골로 분장해요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"트릭 오어 트릿!" 하며 사탕을 받으러 다녀요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4297680" cy="566928"/>
          </a:xfrm>
          <a:prstGeom prst="roundRect">
            <a:avLst>
              <a:gd name="adj" fmla="val 16129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95928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384048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할로윈은 언제, 어디서, 왜 시작되었을까요?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user\AppData\Local\Temp\claude\C--Users-PCuser-Downloads-daeshin-ministry\d9c70595-96b3-4f98-8cc5-f03e45f40c03\scratchpad\build\art\bonfi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2628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26280" y="457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할로윈 이야기 ②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26280" y="868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할로윈은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어디서 왔을까?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26280" y="20116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약 2000년 전, 켈트족의 '삼하인' 축제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추수가 끝나고 춥고 어두운 겨울이 시작되는 날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죽은 사람의 영혼이 돌아온다고 믿었어요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모닥불을 피우고, 가면을 쓰고 변장했어요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26280" y="3840480"/>
            <a:ext cx="4160520" cy="566928"/>
          </a:xfrm>
          <a:prstGeom prst="roundRect">
            <a:avLst>
              <a:gd name="adj" fmla="val 16129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995928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74920" y="38404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하나님을 몰라서 두려워했던 사람들의 축제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할로윈 이야기 ③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'할로윈'이라는 이름의 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2E"/>
                </a:solidFill>
              </a:rPr>
              <a:t>Halloween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  =  All Hallows' Eve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502920" cy="320040"/>
          </a:xfrm>
          <a:prstGeom prst="rightArrow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40680" y="1554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'모든 성인의 날'(11월 1일)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B82E"/>
                </a:solidFill>
              </a:rPr>
              <a:t>전날 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60604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A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060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약 2000년 전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0175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켈트족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'삼하인' 축제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95728" y="2971800"/>
            <a:ext cx="164592" cy="320040"/>
          </a:xfrm>
          <a:prstGeom prst="chevron">
            <a:avLst/>
          </a:prstGeom>
          <a:solidFill>
            <a:srgbClr val="D9D3C0"/>
          </a:solidFill>
          <a:ln w="12700">
            <a:solidFill>
              <a:srgbClr val="D9D3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4688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260604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4A9E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26060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약 1200년 전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30175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교회의 '모든 성인의 날'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전날 밤과 섞임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98848" y="2971800"/>
            <a:ext cx="164592" cy="320040"/>
          </a:xfrm>
          <a:prstGeom prst="chevron">
            <a:avLst/>
          </a:prstGeom>
          <a:solidFill>
            <a:srgbClr val="D9D3C0"/>
          </a:solidFill>
          <a:ln w="12700">
            <a:solidFill>
              <a:srgbClr val="D9D3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4688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60604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02A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26060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약 100년 전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0175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미국에서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분장 · 사탕 축제로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01968" y="2971800"/>
            <a:ext cx="164592" cy="320040"/>
          </a:xfrm>
          <a:prstGeom prst="chevron">
            <a:avLst/>
          </a:prstGeom>
          <a:solidFill>
            <a:srgbClr val="D9D3C0"/>
          </a:solidFill>
          <a:ln w="12700">
            <a:solidFill>
              <a:srgbClr val="D9D3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246888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260604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2606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A"/>
                </a:solidFill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26060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5A"/>
                </a:solidFill>
              </a:rPr>
              <a:t>약 20년 전부터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0175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A5A"/>
                </a:solidFill>
              </a:rPr>
              <a:t>우리나라에서도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A5A"/>
                </a:solidFill>
              </a:rPr>
              <a:t>크게 유행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5A"/>
                </a:solidFill>
              </a:rPr>
              <a:t>오래된 미신  +  성경에 없는 풍습  +  장사가 섞여 만들어진 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user\AppData\Local\Temp\claude\C--Users-PCuser-Downloads-daeshin-ministry\d9c70595-96b3-4f98-8cc5-f03e45f40c03\scratchpad\build\art\luth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0"/>
            <a:ext cx="33832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457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또 하나의 10월 31일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686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A5A"/>
                </a:solidFill>
              </a:rPr>
              <a:t>1517년 10월 31일,</a:t>
            </a:r>
            <a:endParaRPr lang="en-US" sz="2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A5A"/>
                </a:solidFill>
              </a:rPr>
              <a:t>놀라운 일이 일어났어요!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0574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마르틴 루터가 교회 문에 '95개 조항'을 붙였어요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"돈으로 죄를 용서받을 수 없어요!"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"오직 믿음, 오직 은혜, 오직 성경!"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325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38404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10월 31일은 종교개혁 기념일!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FD6F0"/>
                </a:solidFill>
              </a:rPr>
              <a:t>세상이 '할로윈'이라 부르는 날, 말씀의 빛이 다시 비친 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Cuser\AppData\Local\Temp\claude\C--Users-PCuser-Downloads-daeshin-ministry\d9c70595-96b3-4f98-8cc5-f03e45f40c03\scratchpad\build\art\calv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35661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31920" y="4572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931920" y="457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종교개혁 이야기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931920" y="8686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칼빈과 제네바 :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어둠 후에 빛!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3931920" y="20574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장 칼빈(1509~1564), 제네바에서 성경을 가르쳤어요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"성경은 안경이에요" — 하나님을 또렷하게 보여 줘요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400" dirty="0">
                <a:solidFill>
                  <a:srgbClr val="3A4160"/>
                </a:solidFill>
              </a:rPr>
              <a:t>제네바의 표어 : Post Tenebras Lux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31920" y="3840480"/>
            <a:ext cx="4754880" cy="640080"/>
          </a:xfrm>
          <a:prstGeom prst="roundRect">
            <a:avLst>
              <a:gd name="adj" fmla="val 14286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0325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80560" y="38404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포스트 테네브라스 룩스 = 어둠 후에 빛!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FD6F0"/>
                </a:solidFill>
              </a:rPr>
              <a:t>지금도 제네바 종교개혁 기념비에 새겨져 있어요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말씀 속으로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</a:rPr>
              <a:t>에베소서 5:8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5A"/>
                </a:solidFill>
              </a:rPr>
              <a:t>전에는 어둠, 이제는 </a:t>
            </a:r>
            <a:pPr indent="0" marL="0">
              <a:buNone/>
            </a:pPr>
            <a:r>
              <a:rPr lang="en-US" sz="2600" b="1" dirty="0">
                <a:solidFill>
                  <a:srgbClr val="E8702A"/>
                </a:solidFill>
              </a:rPr>
              <a:t>주 안에서 빛!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전에는 어둠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31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</a:rPr>
              <a:t>죄 때문에 하나님과 멀어졌어요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</a:rPr>
              <a:t>무서움과 걱정이 가득했어요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</a:rPr>
              <a:t>하나님을 몰랐어요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06240" y="2011680"/>
            <a:ext cx="731520" cy="7315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062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예수님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60520" y="2834640"/>
            <a:ext cx="822960" cy="365760"/>
          </a:xfrm>
          <a:prstGeom prst="rightArrow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2336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F9C"/>
                </a:solidFill>
              </a:rPr>
              <a:t>골로새서 1:13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74920" y="16002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1D6"/>
          </a:solidFill>
          <a:ln w="19050">
            <a:solidFill>
              <a:srgbClr val="F5B82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8308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8064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5A"/>
                </a:solidFill>
              </a:rPr>
              <a:t>이제는 주 안에서 빛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349240" y="2331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3A4160"/>
                </a:solidFill>
              </a:rPr>
              <a:t>예수님이 십자가로 구해 주셨어요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3A4160"/>
                </a:solidFill>
              </a:rPr>
              <a:t>하나님의 자녀가 되었어요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3A4160"/>
                </a:solidFill>
              </a:rPr>
              <a:t>그러니까 빛의 자녀처럼!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9319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5A"/>
                </a:solidFill>
              </a:rPr>
              <a:t>착해서 빛이 된 게 아니라, </a:t>
            </a:r>
            <a:pPr indent="0" marL="0">
              <a:buNone/>
            </a:pPr>
            <a:r>
              <a:rPr lang="en-US" sz="1450" b="1" dirty="0">
                <a:solidFill>
                  <a:srgbClr val="E8702A"/>
                </a:solidFill>
              </a:rPr>
              <a:t>예수님 때문에 </a:t>
            </a:r>
            <a:pPr indent="0" marL="0">
              <a:buNone/>
            </a:pPr>
            <a:r>
              <a:rPr lang="en-US" sz="1450" b="1" dirty="0">
                <a:solidFill>
                  <a:srgbClr val="1F2A5A"/>
                </a:solidFill>
              </a:rPr>
              <a:t>이미 빛이 되었어요!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7269480" y="4059936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269480" y="40599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A"/>
                </a:solidFill>
              </a:rPr>
              <a:t>오직 은혜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말씀 속으로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</a:rPr>
              <a:t>에베소서 5:9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빛의 자녀에게는 빛의 열매가 열려요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94310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702A"/>
                </a:solidFill>
              </a:rPr>
              <a:t>착함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130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C"/>
                </a:solidFill>
              </a:rPr>
              <a:t>친절 · 나눔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606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3A4160"/>
                </a:solidFill>
              </a:rPr>
              <a:t>우는 친구 옆에 앉기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3A4160"/>
                </a:solidFill>
              </a:rPr>
              <a:t>사탕은 동생과 나누기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46120" y="160020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1783080"/>
            <a:ext cx="640080" cy="64008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9431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5196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4A9E"/>
                </a:solidFill>
              </a:rPr>
              <a:t>의로움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251960" y="2130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C"/>
                </a:solidFill>
              </a:rPr>
              <a:t>바르게 · 공평하게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2606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3A4160"/>
                </a:solidFill>
              </a:rPr>
              <a:t>안 봐도 규칙 지키기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3A4160"/>
                </a:solidFill>
              </a:rPr>
              <a:t>약한 친구 편 들기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6517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63640" y="1783080"/>
            <a:ext cx="640080" cy="640080"/>
          </a:xfrm>
          <a:prstGeom prst="ellipse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94310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4088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8F6B"/>
                </a:solidFill>
              </a:rPr>
              <a:t>진실함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7040880" y="2130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C"/>
                </a:solidFill>
              </a:rPr>
              <a:t>거짓 없이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2606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3A4160"/>
                </a:solidFill>
              </a:rPr>
              <a:t>잘못은 솔직히 말하기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50" dirty="0">
                <a:solidFill>
                  <a:srgbClr val="3A4160"/>
                </a:solidFill>
              </a:rPr>
              <a:t>약속은 꼭 지키기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A5A"/>
                </a:solidFill>
              </a:rPr>
              <a:t>열매는 억지로 짜내는 게 아니라, 빛 안에 있으면 저절로 자라요 (요 15:5)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그럼 우리는?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783080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C"/>
                </a:solidFill>
              </a:rPr>
              <a:t>에베소서 5:10-11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할로윈 날, 빛의 자녀는 이렇게 해요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C84B3C"/>
          </a:solidFill>
          <a:ln w="12700">
            <a:solidFill>
              <a:srgbClr val="C84B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90881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4B3C"/>
                </a:solidFill>
              </a:rPr>
              <a:t>어둠의 일에는 참여하지 않아요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2316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3A4160"/>
                </a:solidFill>
              </a:rPr>
              <a:t>귀신 · 마녀 · 해골 분장은 하지 않아요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3A4160"/>
                </a:solidFill>
              </a:rPr>
              <a:t>죽음이나 무서운 것을 장난으로 삼지 않아요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3A4160"/>
                </a:solidFill>
              </a:rPr>
              <a:t>점 보기 · 주문 외우기 놀이는 안 해요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600200"/>
            <a:ext cx="4023360" cy="2377440"/>
          </a:xfrm>
          <a:prstGeom prst="roundRect">
            <a:avLst>
              <a:gd name="adj" fmla="val 4615"/>
            </a:avLst>
          </a:prstGeom>
          <a:solidFill>
            <a:srgbClr val="FFF1D6"/>
          </a:solidFill>
          <a:ln w="19050">
            <a:solidFill>
              <a:srgbClr val="F5B8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783080"/>
            <a:ext cx="502920" cy="502920"/>
          </a:xfrm>
          <a:prstGeom prst="ellipse">
            <a:avLst/>
          </a:prstGeom>
          <a:solidFill>
            <a:srgbClr val="2F8F6B"/>
          </a:solidFill>
          <a:ln w="12700">
            <a:solidFill>
              <a:srgbClr val="2F8F6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9088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6B"/>
                </a:solidFill>
              </a:rPr>
              <a:t>대신, 빛의 자녀답게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892040" y="2423160"/>
            <a:ext cx="3611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3A4160"/>
                </a:solidFill>
              </a:rPr>
              <a:t>사탕은 나눠 먹어도 돼요 (죄가 아니에요)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3A4160"/>
                </a:solidFill>
              </a:rPr>
              <a:t>"오늘은 종교개혁 기념일이야" 알려 줘요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3A4160"/>
                </a:solidFill>
              </a:rPr>
              <a:t>무서워하지 않아요 — 하나님이 다스리세요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기준은 내 기분이 아니라 성경이에요 — "주를 기쁘시게 할 것이 무엇인가" (5:10)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OX 퀴즈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A5A"/>
                </a:solidFill>
              </a:rPr>
              <a:t>오늘 배운 것, 맞으면 O 틀리면 X 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64208"/>
            <a:ext cx="310896" cy="310896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0020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5A"/>
                </a:solidFill>
              </a:rPr>
              <a:t>할로윈은 성경에 나오는 날이다.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002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9C"/>
                </a:solidFill>
              </a:rPr>
              <a:t>O / 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85416"/>
            <a:ext cx="310896" cy="310896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12140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5A"/>
                </a:solidFill>
              </a:rPr>
              <a:t>'할로윈'은 '모든 성인의 날 전날 밤'이라는 뜻이다.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1214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9C"/>
                </a:solidFill>
              </a:rPr>
              <a:t>O / 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42616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706624"/>
            <a:ext cx="310896" cy="310896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706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642616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5A"/>
                </a:solidFill>
              </a:rPr>
              <a:t>1517년 10월 31일, 루터는 교회 문에 95개 조항을 붙였다.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6426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9C"/>
                </a:solidFill>
              </a:rPr>
              <a:t>O / 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63824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227832"/>
            <a:ext cx="310896" cy="310896"/>
          </a:xfrm>
          <a:prstGeom prst="ellipse">
            <a:avLst/>
          </a:prstGeom>
          <a:solidFill>
            <a:srgbClr val="1F2A5A"/>
          </a:solidFill>
          <a:ln w="12700">
            <a:solidFill>
              <a:srgbClr val="1F2A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163824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5A"/>
                </a:solidFill>
              </a:rPr>
              <a:t>우리는 착한 일을 많이 해서 빛의 자녀가 되었다.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316382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9C"/>
                </a:solidFill>
              </a:rPr>
              <a:t>O / 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ADF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3749040"/>
            <a:ext cx="310896" cy="310896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68503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5A"/>
                </a:solidFill>
              </a:rPr>
              <a:t>빛의 자녀는 귀신이 무서워서 숨어야 한다.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36850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A8F9C"/>
                </a:solidFill>
              </a:rPr>
              <a:t>O / X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F9C"/>
                </a:solidFill>
              </a:rPr>
              <a:t>정답은 선생님 노트에 있어요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마무리 게임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등불 켜기 : 빛의 자녀 퀴즈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2E"/>
                </a:solidFill>
              </a:rPr>
              <a:t>등불팀 vs 별빛팀 </a:t>
            </a:r>
            <a:pPr indent="0" marL="0">
              <a:buNone/>
            </a:pPr>
            <a:r>
              <a:rPr lang="en-US" sz="1200" dirty="0">
                <a:solidFill>
                  <a:srgbClr val="CFD6F0"/>
                </a:solidFill>
              </a:rPr>
              <a:t>— 번갈아 칸을 골라요. 맞히면 칠판에 등불 하나!</a:t>
            </a:r>
            <a:endParaRPr lang="en-US" sz="1200" dirty="0"/>
          </a:p>
        </p:txBody>
      </p:sp>
      <p:sp>
        <p:nvSpPr>
          <p:cNvPr id="6" name="link:cell1">
            <a:hlinkClick r:id="rId1" tooltip="1번 문제" action="ppaction://hlinksldjump"/>
          </p:cNvPr>
          <p:cNvSpPr/>
          <p:nvPr/>
        </p:nvSpPr>
        <p:spPr>
          <a:xfrm>
            <a:off x="457200" y="17373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7" name="link:cell2">
            <a:hlinkClick r:id="rId2" tooltip="2번 문제" action="ppaction://hlinksldjump"/>
          </p:cNvPr>
          <p:cNvSpPr/>
          <p:nvPr/>
        </p:nvSpPr>
        <p:spPr>
          <a:xfrm>
            <a:off x="1847088" y="17373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8" name="link:cell3">
            <a:hlinkClick r:id="rId3" tooltip="3번 문제" action="ppaction://hlinksldjump"/>
          </p:cNvPr>
          <p:cNvSpPr/>
          <p:nvPr/>
        </p:nvSpPr>
        <p:spPr>
          <a:xfrm>
            <a:off x="3236976" y="17373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9" name="link:cell4">
            <a:hlinkClick r:id="rId4" tooltip="4번 문제" action="ppaction://hlinksldjump"/>
          </p:cNvPr>
          <p:cNvSpPr/>
          <p:nvPr/>
        </p:nvSpPr>
        <p:spPr>
          <a:xfrm>
            <a:off x="4626864" y="17373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10" name="link:cell5">
            <a:hlinkClick r:id="rId5" tooltip="5번 문제" action="ppaction://hlinksldjump"/>
          </p:cNvPr>
          <p:cNvSpPr/>
          <p:nvPr/>
        </p:nvSpPr>
        <p:spPr>
          <a:xfrm>
            <a:off x="6016752" y="17373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E8702A"/>
          </a:solidFill>
          <a:ln w="12700">
            <a:solidFill>
              <a:srgbClr val="E8702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⚡ 찬스</a:t>
            </a:r>
            <a:endParaRPr lang="en-US" sz="2800" dirty="0"/>
          </a:p>
        </p:txBody>
      </p:sp>
      <p:sp>
        <p:nvSpPr>
          <p:cNvPr id="11" name="link:cell6">
            <a:hlinkClick r:id="rId6" tooltip="6번 문제" action="ppaction://hlinksldjump"/>
          </p:cNvPr>
          <p:cNvSpPr/>
          <p:nvPr/>
        </p:nvSpPr>
        <p:spPr>
          <a:xfrm>
            <a:off x="7406640" y="17373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12" name="link:cell7">
            <a:hlinkClick r:id="rId7" tooltip="7번 문제" action="ppaction://hlinksldjump"/>
          </p:cNvPr>
          <p:cNvSpPr/>
          <p:nvPr/>
        </p:nvSpPr>
        <p:spPr>
          <a:xfrm>
            <a:off x="457200" y="31089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13" name="link:cell8">
            <a:hlinkClick r:id="rId8" tooltip="8번 문제" action="ppaction://hlinksldjump"/>
          </p:cNvPr>
          <p:cNvSpPr/>
          <p:nvPr/>
        </p:nvSpPr>
        <p:spPr>
          <a:xfrm>
            <a:off x="1847088" y="31089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14" name="link:cell9">
            <a:hlinkClick r:id="rId9" tooltip="9번 문제" action="ppaction://hlinksldjump"/>
          </p:cNvPr>
          <p:cNvSpPr/>
          <p:nvPr/>
        </p:nvSpPr>
        <p:spPr>
          <a:xfrm>
            <a:off x="3236976" y="31089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15" name="link:cell10">
            <a:hlinkClick r:id="rId10" tooltip="10번 문제" action="ppaction://hlinksldjump"/>
          </p:cNvPr>
          <p:cNvSpPr/>
          <p:nvPr/>
        </p:nvSpPr>
        <p:spPr>
          <a:xfrm>
            <a:off x="4626864" y="31089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16" name="link:cell11">
            <a:hlinkClick r:id="rId11" tooltip="11번 문제" action="ppaction://hlinksldjump"/>
          </p:cNvPr>
          <p:cNvSpPr/>
          <p:nvPr/>
        </p:nvSpPr>
        <p:spPr>
          <a:xfrm>
            <a:off x="6016752" y="31089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2A3A7A"/>
          </a:solidFill>
          <a:ln w="12700">
            <a:solidFill>
              <a:srgbClr val="3D4F9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11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E8A3"/>
                </a:solidFill>
              </a:rPr>
              <a:t> </a:t>
            </a:r>
            <a:endParaRPr lang="en-US" sz="2800" dirty="0"/>
          </a:p>
        </p:txBody>
      </p:sp>
      <p:sp>
        <p:nvSpPr>
          <p:cNvPr id="17" name="link:cell12">
            <a:hlinkClick r:id="rId12" tooltip="12번 문제" action="ppaction://hlinksldjump"/>
          </p:cNvPr>
          <p:cNvSpPr/>
          <p:nvPr/>
        </p:nvSpPr>
        <p:spPr>
          <a:xfrm>
            <a:off x="7406640" y="3108960"/>
            <a:ext cx="1280160" cy="1188720"/>
          </a:xfrm>
          <a:prstGeom prst="roundRect">
            <a:avLst>
              <a:gd name="adj" fmla="val 9231"/>
            </a:avLst>
          </a:prstGeom>
          <a:solidFill>
            <a:srgbClr val="F5B82E"/>
          </a:solidFill>
          <a:ln w="12700">
            <a:solidFill>
              <a:srgbClr val="F5B8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A5A"/>
                </a:solidFill>
              </a:rPr>
              <a:t>12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2A5A"/>
                </a:solidFill>
              </a:rPr>
              <a:t>★ 보너스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C7"/>
                </a:solidFill>
              </a:rPr>
              <a:t>쓴 칸은 칠판에 표시해요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할로윈은 성경에 나오는 날이다. O일까, X일까?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X — 성경에는 할로윈이 없어요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할로윈의 원래 이름 'All Hallows' Eve'는 무슨 뜻일까요?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'모든 성인의 날' 전날 밤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약 2000년 전 켈트족이 10월 31일에 지키던 축제 이름은?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삼하인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1517년 10월 31일, 교회 문에 '95개 조항'을 붙인 사람은?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마르틴 루터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암송 찬스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⚡ 암송 찬스!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에베소서 5:8을 외워 보세요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E8702A"/>
          </a:solidFill>
          <a:ln>
            <a:solidFill>
              <a:srgbClr val="E8702A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너희가 전에는 어둠이더니 이제는 주 안에서 빛이라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빛의 자녀들처럼 행하라  (성공하면 등불 2개!)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루터의 세 마디!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"오직 ○○, 오직 ○○, 오직 ○○"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오직 믿음, 오직 은혜, 오직 성경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"성경은 안경과 같아요"라고 말한 제네바의 선생님은?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장 칼빈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제네바의 표어 'Post Tenebras Lux'는 무슨 뜻일까요?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어둠 후에 빛!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9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빈칸을 채워요!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"너희가 전에는 ○○이더니 이제는 주 안에서 ○이라"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어둠 / 빛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빛의 열매 세 가지는? (에베소서 5:9)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착함, 의로움, 진실함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등불 켜기 퀴즈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우리를 어둠에서 빛으로 옮겨 주신 분은 누구일까요?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2E4A9E"/>
          </a:solidFill>
          <a:ln>
            <a:solidFill>
              <a:srgbClr val="2E4A9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예수님! (골로새서 1:13)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F5B82E"/>
          </a:solidFill>
          <a:ln w="12700">
            <a:solidFill>
              <a:srgbClr val="F5B8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A5A"/>
                </a:solidFill>
              </a:rPr>
              <a:t>12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11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9C"/>
                </a:solidFill>
              </a:rPr>
              <a:t>사탕 보너스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★ 사탕 보너스!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F2A5A"/>
                </a:solidFill>
              </a:rPr>
              <a:t>이번 주에 실천할 '빛의 열매' 하나를 말해 보세요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206240" y="2834640"/>
            <a:ext cx="731520" cy="731520"/>
          </a:xfrm>
          <a:prstGeom prst="ellipse">
            <a:avLst/>
          </a:prstGeom>
          <a:solidFill>
            <a:srgbClr val="FFE8A3"/>
          </a:solidFill>
          <a:ln w="12700">
            <a:solidFill>
              <a:srgbClr val="FFE8A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8" name="answer"/>
          <p:cNvSpPr/>
          <p:nvPr/>
        </p:nvSpPr>
        <p:spPr>
          <a:xfrm>
            <a:off x="914400" y="361188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F5B82E"/>
          </a:solidFill>
          <a:ln>
            <a:solidFill>
              <a:srgbClr val="F5B82E"/>
            </a:solidFill>
          </a:ln>
        </p:spPr>
        <p:txBody>
          <a:bodyPr wrap="square" lIns="1270" tIns="1270" rIns="1270" bIns="127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2A5A"/>
                </a:solidFill>
              </a:rPr>
              <a:t>착함 · 의로움 · 진실함 중 하나!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2A5A"/>
                </a:solidFill>
              </a:rPr>
              <a:t>말한 친구 팀에게 등불 1개 + 사탕</a:t>
            </a:r>
            <a:endParaRPr lang="en-US" sz="1800" dirty="0"/>
          </a:p>
        </p:txBody>
      </p:sp>
      <p:sp>
        <p:nvSpPr>
          <p:cNvPr id="9" name="link:back">
            <a:hlinkClick r:id="rId2" tooltip="판으로 돌아가기" action="ppaction://hlinksldjump"/>
          </p:cNvPr>
          <p:cNvSpPr/>
          <p:nvPr/>
        </p:nvSpPr>
        <p:spPr>
          <a:xfrm>
            <a:off x="7589520" y="502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F2A5A"/>
          </a:solidFill>
          <a:ln>
            <a:solidFill>
              <a:srgbClr val="1F2A5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판으로 ↩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25" y="1291327"/>
            <a:ext cx="48138" cy="48138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45466" y="2812519"/>
            <a:ext cx="80971" cy="80971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08790" y="1396213"/>
            <a:ext cx="44797" cy="44797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84753" y="1372250"/>
            <a:ext cx="45348" cy="45348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52717" y="286990"/>
            <a:ext cx="55953" cy="55953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2702" y="830026"/>
            <a:ext cx="45946" cy="45946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66309" y="597103"/>
            <a:ext cx="43767" cy="43767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752" y="1167077"/>
            <a:ext cx="59664" cy="59664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1836" y="3129394"/>
            <a:ext cx="66564" cy="66564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3603" y="1416498"/>
            <a:ext cx="38139" cy="38139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03247" y="1246485"/>
            <a:ext cx="40912" cy="40912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9450" y="1066735"/>
            <a:ext cx="65170" cy="65170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217" y="3482186"/>
            <a:ext cx="71457" cy="71457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33981" y="1170106"/>
            <a:ext cx="45868" cy="45868"/>
          </a:xfrm>
          <a:prstGeom prst="ellipse">
            <a:avLst/>
          </a:prstGeom>
          <a:solidFill>
            <a:srgbClr val="F5E6B8"/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-1097280"/>
            <a:ext cx="2926080" cy="2926080"/>
          </a:xfrm>
          <a:prstGeom prst="ellipse">
            <a:avLst/>
          </a:prstGeom>
          <a:solidFill>
            <a:srgbClr val="F5B82E">
              <a:alpha val="15000"/>
            </a:srgbClr>
          </a:solidFill>
          <a:ln w="12700">
            <a:solidFill>
              <a:srgbClr val="F5B82E">
                <a:alpha val="15000"/>
              </a:srgbClr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65760"/>
            <a:ext cx="731520" cy="7315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931920" y="12344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12344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암송 말씀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너희가 전에는 어둠이더니</a:t>
            </a:r>
            <a:endParaRPr lang="en-US" sz="2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이제는 주 안에서 빛이라</a:t>
            </a:r>
            <a:endParaRPr lang="en-US" sz="2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빛의 자녀들처럼 행하라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B82E"/>
                </a:solidFill>
              </a:rPr>
              <a:t>에베소서 5:8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4400" y="3566160"/>
            <a:ext cx="7315200" cy="914400"/>
          </a:xfrm>
          <a:prstGeom prst="roundRect">
            <a:avLst>
              <a:gd name="adj" fmla="val 10000"/>
            </a:avLst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79476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783080" y="35661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5B82E"/>
                </a:solidFill>
              </a:rPr>
              <a:t>함께 기도해요 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"하나님, 어둠에 있던 저를 예수님 때문에 빛으로 옮겨 주셔서 감사해요.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이번 주 빛의 열매 하나를 꼭 맺게 도와주세요. 예수님 이름으로 기도합니다. 아멘."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C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어둠 후에 빛">
  <a:themeElements>
    <a:clrScheme name="어둠 후에 빛">
      <a:dk1>
        <a:srgbClr val="1F2A5A"/>
      </a:dk1>
      <a:lt1>
        <a:srgbClr val="FFFFFF"/>
      </a:lt1>
      <a:dk2>
        <a:srgbClr val="3A4160"/>
      </a:dk2>
      <a:lt2>
        <a:srgbClr val="FFF8EC"/>
      </a:lt2>
      <a:accent1>
        <a:srgbClr val="E8702A"/>
      </a:accent1>
      <a:accent2>
        <a:srgbClr val="F5B82E"/>
      </a:accent2>
      <a:accent3>
        <a:srgbClr val="2E4A9E"/>
      </a:accent3>
      <a:accent4>
        <a:srgbClr val="FFE8A3"/>
      </a:accent4>
      <a:accent5>
        <a:srgbClr val="8A8F9C"/>
      </a:accent5>
      <a:accent6>
        <a:srgbClr val="CFE3FF"/>
      </a:accent6>
      <a:hlink>
        <a:srgbClr val="2E4A9E"/>
      </a:hlink>
      <a:folHlink>
        <a:srgbClr val="8A8F9C"/>
      </a:folHlink>
    </a:clrScheme>
    <a:fontScheme name="어둠 후에 빛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어둠 후에 빛! — 대로교회 주일학교 할로윈 특강</dc:title>
  <dc:subject>PptxGenJS Presentation</dc:subject>
  <dc:creator>남윤기</dc:creator>
  <cp:lastModifiedBy>남윤기</cp:lastModifiedBy>
  <cp:revision>1</cp:revision>
  <dcterms:created xsi:type="dcterms:W3CDTF">2026-10-24T14:48:03Z</dcterms:created>
  <dcterms:modified xsi:type="dcterms:W3CDTF">2026-10-24T14:48:03Z</dcterms:modified>
</cp:coreProperties>
</file>